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-914400"/>
            <a:ext cx="4572000" cy="457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RoadWatch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C9FF"/>
                </a:solidFill>
              </a:rPr>
              <a:t>AI-Powered Road Safety &amp; Transparency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0F4F8"/>
                </a:solidFill>
              </a:rPr>
              <a:t>IIT Madras — National Road Safety Hackathon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86200"/>
            <a:ext cx="5029200" cy="36576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AAD"/>
                </a:solidFill>
              </a:rPr>
              <a:t>Team  |  RoadWatch Track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645920"/>
            <a:ext cx="2560320" cy="109728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171907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C9FF"/>
                </a:solidFill>
              </a:rPr>
              <a:t>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2128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</a:rPr>
              <a:t>Roads Monitored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3108960"/>
            <a:ext cx="2560320" cy="109728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318211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C9FF"/>
                </a:solidFill>
              </a:rP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67588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</a:rPr>
              <a:t>Countries Covered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4572000"/>
            <a:ext cx="2560320" cy="109728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464515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C9FF"/>
                </a:solidFill>
              </a:rPr>
              <a:t>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513892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</a:rPr>
              <a:t>Damage Assessment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AAD"/>
                </a:solidFill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051560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  —  India's Road Safety Crisis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2743200" cy="1645920"/>
          </a:xfrm>
          <a:prstGeom prst="rect">
            <a:avLst/>
          </a:prstGeom>
          <a:solidFill>
            <a:srgbClr val="10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274320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463040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6B35"/>
                </a:solidFill>
              </a:rPr>
              <a:t>1,68,491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2103120"/>
            <a:ext cx="25968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</a:rPr>
              <a:t>Road accident deaths
in India (2022)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325880"/>
            <a:ext cx="2743200" cy="1645920"/>
          </a:xfrm>
          <a:prstGeom prst="rect">
            <a:avLst/>
          </a:prstGeom>
          <a:solidFill>
            <a:srgbClr val="10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325880"/>
            <a:ext cx="2743200" cy="6400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1463040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6BB5"/>
                </a:solidFill>
              </a:rPr>
              <a:t>₹5.96L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2103120"/>
            <a:ext cx="25968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</a:rPr>
              <a:t>Annual road network
maintenance budget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325880"/>
            <a:ext cx="2743200" cy="1645920"/>
          </a:xfrm>
          <a:prstGeom prst="rect">
            <a:avLst/>
          </a:prstGeom>
          <a:solidFill>
            <a:srgbClr val="10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325880"/>
            <a:ext cx="27432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1463040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74C3C"/>
                </a:solidFill>
              </a:rPr>
              <a:t>~40%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103120"/>
            <a:ext cx="25968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</a:rPr>
              <a:t>Complaints never
reached right authority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325880"/>
            <a:ext cx="2743200" cy="1645920"/>
          </a:xfrm>
          <a:prstGeom prst="rect">
            <a:avLst/>
          </a:prstGeom>
          <a:solidFill>
            <a:srgbClr val="10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325880"/>
            <a:ext cx="2743200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8008" y="1463040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A500"/>
                </a:solidFill>
              </a:rPr>
              <a:t>63%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2103120"/>
            <a:ext cx="25968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</a:rPr>
              <a:t>Roads lack
transparent fund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154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9FF"/>
                </a:solidFill>
              </a:rPr>
              <a:t>Root Causes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39312"/>
            <a:ext cx="164592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602736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4F8"/>
                </a:solidFill>
              </a:rPr>
              <a:t>No single platform shows road contractor + EE + budget in one place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69663"/>
            <a:ext cx="164592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133087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4F8"/>
                </a:solidFill>
              </a:rPr>
              <a:t>Citizens file complaints with wrong departments — months of delay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700016"/>
            <a:ext cx="164592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663440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4F8"/>
                </a:solidFill>
              </a:rPr>
              <a:t>Budget anomalies (under-utilisation) invisible to public &amp; auditors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30368"/>
            <a:ext cx="164592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193792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4F8"/>
                </a:solidFill>
              </a:rPr>
              <a:t>No offline access in rural / low-connectivity areas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64592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724144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4F8"/>
                </a:solidFill>
              </a:rPr>
              <a:t>Existing portals are India-only with no global benchmarking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063240"/>
            <a:ext cx="5669280" cy="3520440"/>
          </a:xfrm>
          <a:prstGeom prst="rect">
            <a:avLst/>
          </a:prstGeom>
          <a:solidFill>
            <a:srgbClr val="10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200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A9AAD"/>
                </a:solidFill>
              </a:rPr>
              <a:t>Status Quo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749039"/>
            <a:ext cx="2377440" cy="475488"/>
          </a:xfrm>
          <a:prstGeom prst="rect">
            <a:avLst/>
          </a:prstGeom>
          <a:solidFill>
            <a:srgbClr val="1A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61120" y="3749039"/>
            <a:ext cx="2743200" cy="475488"/>
          </a:xfrm>
          <a:prstGeom prst="rect">
            <a:avLst/>
          </a:prstGeom>
          <a:solidFill>
            <a:srgbClr val="2A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3813047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iRAD / NIC portals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813047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A8A"/>
                </a:solidFill>
              </a:rPr>
              <a:t>No budget transparency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389120"/>
            <a:ext cx="2377440" cy="475488"/>
          </a:xfrm>
          <a:prstGeom prst="rect">
            <a:avLst/>
          </a:prstGeom>
          <a:solidFill>
            <a:srgbClr val="1A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61120" y="4389120"/>
            <a:ext cx="2743200" cy="475488"/>
          </a:xfrm>
          <a:prstGeom prst="rect">
            <a:avLst/>
          </a:prstGeom>
          <a:solidFill>
            <a:srgbClr val="2A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4531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CPGRAMS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44531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A8A"/>
                </a:solidFill>
              </a:rPr>
              <a:t>Generic — not road-specific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5029200"/>
            <a:ext cx="2377440" cy="475488"/>
          </a:xfrm>
          <a:prstGeom prst="rect">
            <a:avLst/>
          </a:prstGeom>
          <a:solidFill>
            <a:srgbClr val="1A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61120" y="5029200"/>
            <a:ext cx="2743200" cy="475488"/>
          </a:xfrm>
          <a:prstGeom prst="rect">
            <a:avLst/>
          </a:prstGeom>
          <a:solidFill>
            <a:srgbClr val="2A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50932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State PWD portals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50932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A8A"/>
                </a:solidFill>
              </a:rPr>
              <a:t>Siloed, no cross-state view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5669279"/>
            <a:ext cx="2377440" cy="475488"/>
          </a:xfrm>
          <a:prstGeom prst="rect">
            <a:avLst/>
          </a:prstGeom>
          <a:solidFill>
            <a:srgbClr val="1A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61120" y="5669279"/>
            <a:ext cx="2743200" cy="475488"/>
          </a:xfrm>
          <a:prstGeom prst="rect">
            <a:avLst/>
          </a:prstGeom>
          <a:solidFill>
            <a:srgbClr val="2A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5733287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Manual complaint filing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0" y="5733287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A8A"/>
                </a:solidFill>
              </a:rPr>
              <a:t>Wrong routing, no tracking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AAD"/>
                </a:solidFill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051560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Gap in Existing Systems  →  RoadWatch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560320" cy="4572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3258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907792" y="1280160"/>
            <a:ext cx="1920240" cy="457200"/>
          </a:xfrm>
          <a:prstGeom prst="rect">
            <a:avLst/>
          </a:prstGeom>
          <a:solidFill>
            <a:srgbClr val="1A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80944" y="13258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iRAD / NIC</a:t>
            </a:r>
          </a:p>
        </p:txBody>
      </p:sp>
      <p:sp>
        <p:nvSpPr>
          <p:cNvPr id="9" name="Rectangle 8"/>
          <p:cNvSpPr/>
          <p:nvPr/>
        </p:nvSpPr>
        <p:spPr>
          <a:xfrm>
            <a:off x="4901184" y="1280160"/>
            <a:ext cx="1920240" cy="457200"/>
          </a:xfrm>
          <a:prstGeom prst="rect">
            <a:avLst/>
          </a:prstGeom>
          <a:solidFill>
            <a:srgbClr val="1A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74336" y="13258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CPGRAMS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94576" y="1280160"/>
            <a:ext cx="1920240" cy="457200"/>
          </a:xfrm>
          <a:prstGeom prst="rect">
            <a:avLst/>
          </a:prstGeom>
          <a:solidFill>
            <a:srgbClr val="1A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13258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State PWDs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87968" y="1280160"/>
            <a:ext cx="210312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325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RoadWatch 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810512"/>
            <a:ext cx="2560320" cy="530352"/>
          </a:xfrm>
          <a:prstGeom prst="rect">
            <a:avLst/>
          </a:prstGeom>
          <a:solidFill>
            <a:srgbClr val="15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188366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Road contractor + EE info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07792" y="1810512"/>
            <a:ext cx="1920240" cy="53035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80944" y="18836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01184" y="1810512"/>
            <a:ext cx="1920240" cy="53035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74336" y="18836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94576" y="1810512"/>
            <a:ext cx="1920240" cy="53035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18836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0F4F8"/>
                </a:solidFill>
              </a:rPr>
              <a:t>Partial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87968" y="1810512"/>
            <a:ext cx="2103120" cy="530352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188366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ECC71"/>
                </a:solidFill>
              </a:rPr>
              <a:t>✔ Full detail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423160"/>
            <a:ext cx="2560320" cy="530352"/>
          </a:xfrm>
          <a:prstGeom prst="rect">
            <a:avLst/>
          </a:prstGeom>
          <a:solidFill>
            <a:srgbClr val="15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249631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Budget sanctioned vs spent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07792" y="2423160"/>
            <a:ext cx="1920240" cy="530352"/>
          </a:xfrm>
          <a:prstGeom prst="rect">
            <a:avLst/>
          </a:prstGeom>
          <a:solidFill>
            <a:srgbClr val="0D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80944" y="24963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01184" y="2423160"/>
            <a:ext cx="1920240" cy="530352"/>
          </a:xfrm>
          <a:prstGeom prst="rect">
            <a:avLst/>
          </a:prstGeom>
          <a:solidFill>
            <a:srgbClr val="0D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74336" y="24963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94576" y="2423160"/>
            <a:ext cx="1920240" cy="530352"/>
          </a:xfrm>
          <a:prstGeom prst="rect">
            <a:avLst/>
          </a:prstGeom>
          <a:solidFill>
            <a:srgbClr val="0D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67728" y="24963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2423160"/>
            <a:ext cx="2103120" cy="530352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24963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ECC71"/>
                </a:solidFill>
              </a:rPr>
              <a:t>✔ With source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035808"/>
            <a:ext cx="2560320" cy="530352"/>
          </a:xfrm>
          <a:prstGeom prst="rect">
            <a:avLst/>
          </a:prstGeom>
          <a:solidFill>
            <a:srgbClr val="15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31089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Smart complaint routing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07792" y="3035808"/>
            <a:ext cx="1920240" cy="53035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80944" y="31089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0F4F8"/>
                </a:solidFill>
              </a:rPr>
              <a:t>Partial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01184" y="3035808"/>
            <a:ext cx="1920240" cy="53035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74336" y="31089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0F4F8"/>
                </a:solidFill>
              </a:rPr>
              <a:t>Generic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94576" y="3035808"/>
            <a:ext cx="1920240" cy="53035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67728" y="31089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87968" y="3035808"/>
            <a:ext cx="2103120" cy="530352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0" y="31089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ECC71"/>
                </a:solidFill>
              </a:rPr>
              <a:t>✔ AI-routed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648456"/>
            <a:ext cx="2560320" cy="530352"/>
          </a:xfrm>
          <a:prstGeom prst="rect">
            <a:avLst/>
          </a:prstGeom>
          <a:solidFill>
            <a:srgbClr val="15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372160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Multi-country support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07792" y="3648456"/>
            <a:ext cx="1920240" cy="530352"/>
          </a:xfrm>
          <a:prstGeom prst="rect">
            <a:avLst/>
          </a:prstGeom>
          <a:solidFill>
            <a:srgbClr val="0D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80944" y="372160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01184" y="3648456"/>
            <a:ext cx="1920240" cy="530352"/>
          </a:xfrm>
          <a:prstGeom prst="rect">
            <a:avLst/>
          </a:prstGeom>
          <a:solidFill>
            <a:srgbClr val="0D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74336" y="372160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94576" y="3648456"/>
            <a:ext cx="1920240" cy="530352"/>
          </a:xfrm>
          <a:prstGeom prst="rect">
            <a:avLst/>
          </a:prstGeom>
          <a:solidFill>
            <a:srgbClr val="0D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67728" y="372160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87968" y="3648456"/>
            <a:ext cx="2103120" cy="530352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61120" y="37216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ECC71"/>
                </a:solidFill>
              </a:rPr>
              <a:t>✔ 13 countries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261104"/>
            <a:ext cx="2560320" cy="530352"/>
          </a:xfrm>
          <a:prstGeom prst="rect">
            <a:avLst/>
          </a:prstGeom>
          <a:solidFill>
            <a:srgbClr val="15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7472" y="4334256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AI damage assessment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07792" y="4261104"/>
            <a:ext cx="1920240" cy="53035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80944" y="433425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01184" y="4261104"/>
            <a:ext cx="1920240" cy="53035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74336" y="433425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94576" y="4261104"/>
            <a:ext cx="1920240" cy="53035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67728" y="433425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87968" y="4261104"/>
            <a:ext cx="2103120" cy="530352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61120" y="433425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ECC71"/>
                </a:solidFill>
              </a:rPr>
              <a:t>✔ CV + LLM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4873752"/>
            <a:ext cx="2560320" cy="530352"/>
          </a:xfrm>
          <a:prstGeom prst="rect">
            <a:avLst/>
          </a:prstGeom>
          <a:solidFill>
            <a:srgbClr val="15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7472" y="494690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Offline PWA capability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907792" y="4873752"/>
            <a:ext cx="1920240" cy="530352"/>
          </a:xfrm>
          <a:prstGeom prst="rect">
            <a:avLst/>
          </a:prstGeom>
          <a:solidFill>
            <a:srgbClr val="0D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80944" y="494690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01184" y="4873752"/>
            <a:ext cx="1920240" cy="530352"/>
          </a:xfrm>
          <a:prstGeom prst="rect">
            <a:avLst/>
          </a:prstGeom>
          <a:solidFill>
            <a:srgbClr val="0D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74336" y="494690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94576" y="4873752"/>
            <a:ext cx="1920240" cy="530352"/>
          </a:xfrm>
          <a:prstGeom prst="rect">
            <a:avLst/>
          </a:prstGeom>
          <a:solidFill>
            <a:srgbClr val="0D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67728" y="494690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887968" y="4873752"/>
            <a:ext cx="2103120" cy="530352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61120" y="494690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ECC71"/>
                </a:solidFill>
              </a:rPr>
              <a:t>✔ Service Worker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5486400"/>
            <a:ext cx="2560320" cy="530352"/>
          </a:xfrm>
          <a:prstGeom prst="rect">
            <a:avLst/>
          </a:prstGeom>
          <a:solidFill>
            <a:srgbClr val="15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47472" y="555955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Budget anomaly alerts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907792" y="5486400"/>
            <a:ext cx="1920240" cy="53035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980944" y="55595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901184" y="5486400"/>
            <a:ext cx="1920240" cy="53035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974336" y="55595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894576" y="5486400"/>
            <a:ext cx="1920240" cy="53035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967728" y="55595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B6B"/>
                </a:solidFill>
              </a:rPr>
              <a:t>✗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887968" y="5486400"/>
            <a:ext cx="2103120" cy="530352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961120" y="55595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ECC71"/>
                </a:solidFill>
              </a:rPr>
              <a:t>✔ Auto-flagged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AAD"/>
                </a:solidFill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051560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RoadWatch  —  One Platform. Complete Transparency.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3749039" cy="2377440"/>
          </a:xfrm>
          <a:prstGeom prst="rect">
            <a:avLst/>
          </a:prstGeom>
          <a:solidFill>
            <a:srgbClr val="10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3749039" cy="73152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🗺️ Interactive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29968"/>
            <a:ext cx="347472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</a:rPr>
              <a:t>Leaflet.js + MarkerCluster
Colour-coded condition overlays
Geolocation &amp; radius 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371600"/>
            <a:ext cx="3749039" cy="2377440"/>
          </a:xfrm>
          <a:prstGeom prst="rect">
            <a:avLst/>
          </a:prstGeom>
          <a:solidFill>
            <a:srgbClr val="10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59" y="1371600"/>
            <a:ext cx="3749039" cy="7315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19" y="1508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📊 Budget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19" y="2029968"/>
            <a:ext cx="347472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</a:rPr>
              <a:t>Sanctioned vs spent tracking
Anomaly auto-flag (&lt;65%)
Year-on-year charts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371600"/>
            <a:ext cx="3749039" cy="2377440"/>
          </a:xfrm>
          <a:prstGeom prst="rect">
            <a:avLst/>
          </a:prstGeom>
          <a:solidFill>
            <a:srgbClr val="10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371600"/>
            <a:ext cx="3749039" cy="7315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39" y="1508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🤖 AI Chatbot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2029968"/>
            <a:ext cx="347472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</a:rPr>
              <a:t>Groq LLaMA 3.3 70B backend
Rule-based + LLM fallback
Markdown-rich responses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977639"/>
            <a:ext cx="3749039" cy="2377440"/>
          </a:xfrm>
          <a:prstGeom prst="rect">
            <a:avLst/>
          </a:prstGeom>
          <a:solidFill>
            <a:srgbClr val="10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977639"/>
            <a:ext cx="3749039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11479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📋 Smart Complaint Wizard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36007"/>
            <a:ext cx="347472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</a:rPr>
              <a:t>4-step guided filing
AI routes to correct EE
Real-time status tracking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3977639"/>
            <a:ext cx="3749039" cy="2377440"/>
          </a:xfrm>
          <a:prstGeom prst="rect">
            <a:avLst/>
          </a:prstGeom>
          <a:solidFill>
            <a:srgbClr val="10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59" y="3977639"/>
            <a:ext cx="3749039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19" y="411479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📸 Damage 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19" y="4636007"/>
            <a:ext cx="347472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</a:rPr>
              <a:t>Image upload → CV analysis
Severity &amp; damage-type output
Auto-attached to complaint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3977639"/>
            <a:ext cx="3749039" cy="2377440"/>
          </a:xfrm>
          <a:prstGeom prst="rect">
            <a:avLst/>
          </a:prstGeom>
          <a:solidFill>
            <a:srgbClr val="10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3977639"/>
            <a:ext cx="3749039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39" y="411479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🌐 Global Coverage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9" y="4636007"/>
            <a:ext cx="347472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</a:rPr>
              <a:t>13 countries: IN, UK, US, BD, ZA, MG, PL, DE, AU, NG, KE, JP, MY
Currency-aware display
Localised authority routing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AAD"/>
                </a:solidFill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051560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&amp; Complaint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FF"/>
                </a:solidFill>
              </a:rPr>
              <a:t>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55648"/>
            <a:ext cx="5486400" cy="1051560"/>
          </a:xfrm>
          <a:prstGeom prst="rect">
            <a:avLst/>
          </a:prstGeom>
          <a:solidFill>
            <a:srgbClr val="10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755648"/>
            <a:ext cx="164592" cy="105156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BB5"/>
                </a:solidFill>
              </a:rPr>
              <a:t>FRONTEND (Browser / PWA)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1284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</a:rPr>
              <a:t>Vanilla JS · Leaflet.js · Chart.js · marked.js
Service Worker · Offline cache · Responsive CSS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944368"/>
            <a:ext cx="5486400" cy="1051560"/>
          </a:xfrm>
          <a:prstGeom prst="rect">
            <a:avLst/>
          </a:prstGeom>
          <a:solidFill>
            <a:srgbClr val="10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944368"/>
            <a:ext cx="164592" cy="10515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BACKEND API  (FastAPI / Python)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015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</a:rPr>
              <a:t>REST endpoints · SQLAlchemy ORM · Pydantic v2
Haversine geo-search · File uploads · aiofiles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133087"/>
            <a:ext cx="5486400" cy="1051560"/>
          </a:xfrm>
          <a:prstGeom prst="rect">
            <a:avLst/>
          </a:prstGeom>
          <a:solidFill>
            <a:srgbClr val="10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133087"/>
            <a:ext cx="164592" cy="105156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206239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AI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90287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</a:rPr>
              <a:t>Groq LLaMA-3.3-70B · OpenAI GPT-4 Vision
Rule-based fallback · Damage CV assessment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321808"/>
            <a:ext cx="5486400" cy="1051560"/>
          </a:xfrm>
          <a:prstGeom prst="rect">
            <a:avLst/>
          </a:prstGeom>
          <a:solidFill>
            <a:srgbClr val="10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321808"/>
            <a:ext cx="164592" cy="1051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3949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DATA STORE  (SQLite)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7900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</a:rPr>
              <a:t>Roads · Authorities · Complaints · Budget history
35 roads · 37 authorities · 13 countries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2788920"/>
            <a:ext cx="164592" cy="109728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34640" y="3977639"/>
            <a:ext cx="164592" cy="109728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34640" y="5166360"/>
            <a:ext cx="164592" cy="109728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2618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Smart Complaint Flow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1737360"/>
            <a:ext cx="50292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737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86600" y="1737360"/>
            <a:ext cx="4754880" cy="749808"/>
          </a:xfrm>
          <a:prstGeom prst="rect">
            <a:avLst/>
          </a:prstGeom>
          <a:solidFill>
            <a:srgbClr val="10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1792224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</a:rPr>
              <a:t>Citizen files complaint
(GPS + image + description)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02552" y="2240280"/>
            <a:ext cx="73152" cy="457200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2240" y="2697480"/>
            <a:ext cx="502920" cy="5029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2697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2697480"/>
            <a:ext cx="4754880" cy="749808"/>
          </a:xfrm>
          <a:prstGeom prst="rect">
            <a:avLst/>
          </a:prstGeom>
          <a:solidFill>
            <a:srgbClr val="10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0" y="2752344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</a:rPr>
              <a:t>AI CV assesses damage
(type, severity, confidence)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02552" y="3200400"/>
            <a:ext cx="73152" cy="457200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92240" y="3657600"/>
            <a:ext cx="502920" cy="50292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657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86600" y="3657600"/>
            <a:ext cx="4754880" cy="749808"/>
          </a:xfrm>
          <a:prstGeom prst="rect">
            <a:avLst/>
          </a:prstGeom>
          <a:solidFill>
            <a:srgbClr val="10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23760" y="3712464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</a:rPr>
              <a:t>AI routes to correct
Executive Engineer + dept.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02552" y="4160520"/>
            <a:ext cx="73152" cy="457200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92240" y="4617720"/>
            <a:ext cx="50292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4617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86600" y="4617720"/>
            <a:ext cx="4754880" cy="749808"/>
          </a:xfrm>
          <a:prstGeom prst="rect">
            <a:avLst/>
          </a:prstGeom>
          <a:solidFill>
            <a:srgbClr val="10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0" y="4672584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</a:rPr>
              <a:t>EE receives notification;
status tracked in real-time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02552" y="5120640"/>
            <a:ext cx="73152" cy="457200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92240" y="5577840"/>
            <a:ext cx="502920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5577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86600" y="5577840"/>
            <a:ext cx="4754880" cy="749808"/>
          </a:xfrm>
          <a:prstGeom prst="rect">
            <a:avLst/>
          </a:prstGeom>
          <a:solidFill>
            <a:srgbClr val="10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23760" y="5632704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</a:rPr>
              <a:t>Resolution logged; citizen
notified; data feeds analytics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AAD"/>
                </a:solidFill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051560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Impact, Scalability &amp; Why RoadWatch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FF"/>
                </a:solidFill>
              </a:rPr>
              <a:t>Evaluation Criteria  (Rulebook)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55648"/>
            <a:ext cx="5669280" cy="694944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755648"/>
            <a:ext cx="109728" cy="69494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9222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✔  Data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8483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</a:rPr>
              <a:t>Verified contractor, EE, relaying date, budget — all with source labels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542032"/>
            <a:ext cx="5669280" cy="694944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542032"/>
            <a:ext cx="109728" cy="69494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7860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✔  Correct Complaint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7121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</a:rPr>
              <a:t>AI + DB authority lookup → routes to right EE/department always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28415"/>
            <a:ext cx="5669280" cy="694944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328415"/>
            <a:ext cx="109728" cy="69494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64991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✔  Budget Transparency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657599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</a:rPr>
              <a:t>Sanctioned vs spent per year with anomaly auto-flag &amp; source URL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114800"/>
            <a:ext cx="5669280" cy="694944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114800"/>
            <a:ext cx="109728" cy="69494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5137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✔  Global Applicability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4398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</a:rPr>
              <a:t>13 countries, localised authorities, multi-currency budget display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901183"/>
            <a:ext cx="5669280" cy="694944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901183"/>
            <a:ext cx="109728" cy="69494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937759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✔  Offline Functionality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230367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</a:rPr>
              <a:t>Service Worker PWA: roads + stats cached; works without internet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687568"/>
            <a:ext cx="5669280" cy="694944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5687568"/>
            <a:ext cx="109728" cy="69494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72414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✔  UI &amp; Accessibility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01675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</a:rPr>
              <a:t>Responsive, hamburger-mobile, WCAG contrast, screen-reader labels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2618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Projected Impact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1783080"/>
            <a:ext cx="2468880" cy="1234440"/>
          </a:xfrm>
          <a:prstGeom prst="rect">
            <a:avLst/>
          </a:prstGeom>
          <a:solidFill>
            <a:srgbClr val="10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185623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6B35"/>
                </a:solidFill>
              </a:rPr>
              <a:t>60%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4414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</a:rPr>
              <a:t>Faster complaint resolution
with AI routing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1783080"/>
            <a:ext cx="2468880" cy="1234440"/>
          </a:xfrm>
          <a:prstGeom prst="rect">
            <a:avLst/>
          </a:prstGeom>
          <a:solidFill>
            <a:srgbClr val="10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185623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6B35"/>
                </a:solidFill>
              </a:rPr>
              <a:t>100%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4414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</a:rPr>
              <a:t>Budget data
transparency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246120"/>
            <a:ext cx="2468880" cy="1234440"/>
          </a:xfrm>
          <a:prstGeom prst="rect">
            <a:avLst/>
          </a:prstGeom>
          <a:solidFill>
            <a:srgbClr val="10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31927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6B35"/>
                </a:solidFill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90448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</a:rPr>
              <a:t>Countries on
Day 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3246120"/>
            <a:ext cx="2468880" cy="1234440"/>
          </a:xfrm>
          <a:prstGeom prst="rect">
            <a:avLst/>
          </a:prstGeom>
          <a:solidFill>
            <a:srgbClr val="10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0" y="331927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6B35"/>
                </a:solidFill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390448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</a:rPr>
              <a:t>Wrong-department
misdirections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937760"/>
            <a:ext cx="5669280" cy="1600200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5029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FF"/>
                </a:solidFill>
              </a:rPr>
              <a:t>Scale-up Roadmap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44068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</a:rPr>
              <a:t>• Replace SQLite with PostgreSQL for production scale
• Integrate PMGSY / NRIDA real data APIs
• Mobile app (React Native) with full offline sync
• Bhashini integration for 22 Indian language support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AAD"/>
                </a:solidFill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5394960" cy="6858000"/>
          </a:xfrm>
          <a:prstGeom prst="rect">
            <a:avLst/>
          </a:prstGeom>
          <a:solidFill>
            <a:srgbClr val="0A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0C9FF"/>
                </a:solidFill>
              </a:rPr>
              <a:t>Making India's roads safer — one data point at a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11880"/>
            <a:ext cx="5029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794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AAD"/>
                </a:solidFill>
              </a:rPr>
              <a:t>RoadWatch  |  IIT Madras National Road Safety Hackathon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828800"/>
            <a:ext cx="3657600" cy="3474720"/>
          </a:xfrm>
          <a:prstGeom prst="rect">
            <a:avLst/>
          </a:prstGeom>
          <a:solidFill>
            <a:srgbClr val="10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965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Platform Highlights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2514600"/>
            <a:ext cx="3337560" cy="3657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54203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</a:rPr>
              <a:t>🗺️  Live interactive road 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953512"/>
            <a:ext cx="3337560" cy="3657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98094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</a:rPr>
              <a:t>📊  Budget anomaly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3392424"/>
            <a:ext cx="3337560" cy="3657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41985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</a:rPr>
              <a:t>🤖  AI chatbot (LLaMA / GPT-4)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3831335"/>
            <a:ext cx="3337560" cy="3657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385876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</a:rPr>
              <a:t>📸  Computer Vision damage CV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4270248"/>
            <a:ext cx="3337560" cy="3657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4297679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</a:rPr>
              <a:t>🌐  13-country global support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9560" y="4709160"/>
            <a:ext cx="3337560" cy="3657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473659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8"/>
                </a:solidFill>
              </a:rPr>
              <a:t>📱  Offline PWA capability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AAD"/>
                </a:solidFill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